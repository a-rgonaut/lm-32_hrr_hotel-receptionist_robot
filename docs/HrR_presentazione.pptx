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1"/>
  </p:notesMasterIdLst>
  <p:sldIdLst>
    <p:sldId id="256" r:id="rId2"/>
    <p:sldId id="257" r:id="rId3"/>
    <p:sldId id="273" r:id="rId4"/>
    <p:sldId id="258" r:id="rId5"/>
    <p:sldId id="259" r:id="rId6"/>
    <p:sldId id="260" r:id="rId7"/>
    <p:sldId id="274" r:id="rId8"/>
    <p:sldId id="277" r:id="rId9"/>
    <p:sldId id="278" r:id="rId10"/>
    <p:sldId id="279" r:id="rId11"/>
    <p:sldId id="275" r:id="rId12"/>
    <p:sldId id="283" r:id="rId13"/>
    <p:sldId id="284" r:id="rId14"/>
    <p:sldId id="285" r:id="rId15"/>
    <p:sldId id="276" r:id="rId16"/>
    <p:sldId id="280" r:id="rId17"/>
    <p:sldId id="281" r:id="rId18"/>
    <p:sldId id="282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A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7" autoAdjust="0"/>
    <p:restoredTop sz="94660"/>
  </p:normalViewPr>
  <p:slideViewPr>
    <p:cSldViewPr snapToGrid="0">
      <p:cViewPr varScale="1">
        <p:scale>
          <a:sx n="75" d="100"/>
          <a:sy n="75" d="100"/>
        </p:scale>
        <p:origin x="8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B95A6-F268-4351-B60C-FDE07E3EC947}" type="datetimeFigureOut">
              <a:rPr lang="it-IT" smtClean="0"/>
              <a:t>30/01/2026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95D248-3670-4069-BE85-AC289AA6A97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7560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9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22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1868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956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587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833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54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25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94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23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70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95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88" r:id="rId2"/>
    <p:sldLayoutId id="2147483687" r:id="rId3"/>
    <p:sldLayoutId id="2147483686" r:id="rId4"/>
    <p:sldLayoutId id="2147483685" r:id="rId5"/>
    <p:sldLayoutId id="2147483684" r:id="rId6"/>
    <p:sldLayoutId id="2147483683" r:id="rId7"/>
    <p:sldLayoutId id="2147483682" r:id="rId8"/>
    <p:sldLayoutId id="2147483681" r:id="rId9"/>
    <p:sldLayoutId id="2147483680" r:id="rId10"/>
    <p:sldLayoutId id="214748367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1">
            <a:extLst>
              <a:ext uri="{FF2B5EF4-FFF2-40B4-BE49-F238E27FC236}">
                <a16:creationId xmlns:a16="http://schemas.microsoft.com/office/drawing/2014/main" id="{149F9F0F-FB8C-5565-247C-BDCC156B5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13">
            <a:extLst>
              <a:ext uri="{FF2B5EF4-FFF2-40B4-BE49-F238E27FC236}">
                <a16:creationId xmlns:a16="http://schemas.microsoft.com/office/drawing/2014/main" id="{ABA4FDDF-F59C-428B-8603-3A86D7593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C7AAC79-403D-95D5-0DDB-3CDD63DF8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548" y="1896946"/>
            <a:ext cx="5532904" cy="3064108"/>
          </a:xfrm>
          <a:prstGeom prst="rect">
            <a:avLst/>
          </a:prstGeom>
          <a:ln>
            <a:noFill/>
          </a:ln>
        </p:spPr>
      </p:pic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26081F0C-D1F0-EDFC-3385-E290227D17D9}"/>
              </a:ext>
            </a:extLst>
          </p:cNvPr>
          <p:cNvCxnSpPr>
            <a:cxnSpLocks/>
          </p:cNvCxnSpPr>
          <p:nvPr/>
        </p:nvCxnSpPr>
        <p:spPr>
          <a:xfrm>
            <a:off x="6116320" y="1842552"/>
            <a:ext cx="0" cy="317289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F20F5F93-B4FC-4751-57F8-0B366E55E289}"/>
              </a:ext>
            </a:extLst>
          </p:cNvPr>
          <p:cNvSpPr txBox="1"/>
          <p:nvPr/>
        </p:nvSpPr>
        <p:spPr>
          <a:xfrm>
            <a:off x="359215" y="2490281"/>
            <a:ext cx="539789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Progetto: </a:t>
            </a:r>
            <a:r>
              <a:rPr lang="it-IT" sz="32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Robotica &amp;</a:t>
            </a:r>
          </a:p>
          <a:p>
            <a:pPr algn="ctr"/>
            <a:r>
              <a:rPr lang="it-IT" sz="32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Intelligenza Artificiale 2</a:t>
            </a:r>
            <a:endParaRPr lang="it-IT" sz="28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endParaRPr lang="it-IT" sz="28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it-IT" sz="24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HrR</a:t>
            </a:r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(Hotel receptionist Robot)</a:t>
            </a:r>
            <a:endParaRPr lang="it-IT" b="1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B746C652-6DCC-3867-84C0-E53037E9189A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Connettore diritto 47">
            <a:extLst>
              <a:ext uri="{FF2B5EF4-FFF2-40B4-BE49-F238E27FC236}">
                <a16:creationId xmlns:a16="http://schemas.microsoft.com/office/drawing/2014/main" id="{A6B953B4-662A-8705-26B4-23D59ACC51D5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diritto 49">
            <a:extLst>
              <a:ext uri="{FF2B5EF4-FFF2-40B4-BE49-F238E27FC236}">
                <a16:creationId xmlns:a16="http://schemas.microsoft.com/office/drawing/2014/main" id="{AC1B717F-B3A6-FA6C-0912-A6D0BCD7CB6F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Connettore diritto 50">
            <a:extLst>
              <a:ext uri="{FF2B5EF4-FFF2-40B4-BE49-F238E27FC236}">
                <a16:creationId xmlns:a16="http://schemas.microsoft.com/office/drawing/2014/main" id="{DDDB64F9-2ADA-8FEC-BEA0-4A80DD8901AB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8D7A8E79-8F4A-2852-30CA-C082B50C8B45}"/>
              </a:ext>
            </a:extLst>
          </p:cNvPr>
          <p:cNvSpPr txBox="1"/>
          <p:nvPr/>
        </p:nvSpPr>
        <p:spPr>
          <a:xfrm>
            <a:off x="2321346" y="5536901"/>
            <a:ext cx="7549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Andrea Spinelli, Gabriele Bova, Paolo Manuele Gulotta, Vincenzo Zizzo</a:t>
            </a: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F3784D08-A4D7-88C3-3510-4ACC3F73AE1F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6F9503CC-3F9E-9839-0F24-32D47F1CC0AB}"/>
              </a:ext>
            </a:extLst>
          </p:cNvPr>
          <p:cNvSpPr txBox="1"/>
          <p:nvPr/>
        </p:nvSpPr>
        <p:spPr>
          <a:xfrm>
            <a:off x="281549" y="6482080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42ADCDE2-90D1-2D69-BC0A-6163BBE8CF50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36296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E61D668D-030A-DEC2-C360-779E144B0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A86CC99C-01AE-E0B0-026C-EB8C4569A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E1AC2EC7-DC49-3936-796D-A2F52FF66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B9C9FB01-EE2F-7148-72C8-C97235784F93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4BC959C0-CFC7-15F6-801A-EA9243CFFF08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0078B3A5-7445-2A8C-9B9F-29A66CE401EE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77E794EB-B342-9BEC-7A48-33802A61116C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BBAA07B-0FA7-7808-5DE9-C461F941BA26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D8B2809-16FB-46F5-273D-E41A45299A9C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Pipeline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5DE9360-90BA-FA36-2285-8360F77BFC34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Indice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99F169A-DDFC-1D08-3379-E17654DE8D42}"/>
              </a:ext>
            </a:extLst>
          </p:cNvPr>
          <p:cNvSpPr txBox="1"/>
          <p:nvPr/>
        </p:nvSpPr>
        <p:spPr>
          <a:xfrm>
            <a:off x="281548" y="751839"/>
            <a:ext cx="11628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8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Pipeline</a:t>
            </a:r>
            <a:endParaRPr lang="it-IT" sz="20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7B212576-BAF9-B065-8F27-0560AE38FEB5}"/>
              </a:ext>
            </a:extLst>
          </p:cNvPr>
          <p:cNvCxnSpPr>
            <a:cxnSpLocks/>
          </p:cNvCxnSpPr>
          <p:nvPr/>
        </p:nvCxnSpPr>
        <p:spPr>
          <a:xfrm>
            <a:off x="1869440" y="3458743"/>
            <a:ext cx="8146640" cy="0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508D4926-96A3-DC6A-5E81-ED9DCFA99CE8}"/>
              </a:ext>
            </a:extLst>
          </p:cNvPr>
          <p:cNvCxnSpPr>
            <a:cxnSpLocks/>
            <a:stCxn id="61" idx="7"/>
            <a:endCxn id="43" idx="2"/>
          </p:cNvCxnSpPr>
          <p:nvPr/>
        </p:nvCxnSpPr>
        <p:spPr>
          <a:xfrm flipV="1">
            <a:off x="3220037" y="2737506"/>
            <a:ext cx="493343" cy="605279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E01E8F5D-4681-7AF5-6AA7-CD5E2F289415}"/>
              </a:ext>
            </a:extLst>
          </p:cNvPr>
          <p:cNvSpPr txBox="1"/>
          <p:nvPr/>
        </p:nvSpPr>
        <p:spPr>
          <a:xfrm>
            <a:off x="2759380" y="2275841"/>
            <a:ext cx="190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Dominio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4EE21CF6-F47D-A153-44EE-D1E88F28026D}"/>
              </a:ext>
            </a:extLst>
          </p:cNvPr>
          <p:cNvSpPr/>
          <p:nvPr/>
        </p:nvSpPr>
        <p:spPr>
          <a:xfrm>
            <a:off x="2812626" y="3272884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329168F2-9657-2CC5-1B2E-B35F525FFC7F}"/>
              </a:ext>
            </a:extLst>
          </p:cNvPr>
          <p:cNvSpPr txBox="1"/>
          <p:nvPr/>
        </p:nvSpPr>
        <p:spPr>
          <a:xfrm>
            <a:off x="911545" y="4074254"/>
            <a:ext cx="1036890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Prefazione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lo sviluppo della pipeline sopracitata è avvenuta nel periodo compreso 28 Aprile 2025 – 17 Maggio 2025. 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Nelle slide a seguire si commenterà lo sviluppo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step-by-step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del codice per la risoluzione della consegna data. 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Relativi riferimenti e citazioni durante lo sviluppo saranno seguiti da link messi in apice (es. </a:t>
            </a:r>
            <a:r>
              <a:rPr lang="it-IT" sz="1600" baseline="300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[link]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), a cui fanno riferimento alla bibliografia in calce alle presentazione.</a:t>
            </a:r>
          </a:p>
        </p:txBody>
      </p:sp>
      <p:cxnSp>
        <p:nvCxnSpPr>
          <p:cNvPr id="26" name="Connettore diritto 25">
            <a:extLst>
              <a:ext uri="{FF2B5EF4-FFF2-40B4-BE49-F238E27FC236}">
                <a16:creationId xmlns:a16="http://schemas.microsoft.com/office/drawing/2014/main" id="{985A5C8D-7B4B-8AB7-BBFE-DA68397F5B28}"/>
              </a:ext>
            </a:extLst>
          </p:cNvPr>
          <p:cNvCxnSpPr>
            <a:cxnSpLocks/>
            <a:stCxn id="34" idx="7"/>
            <a:endCxn id="50" idx="2"/>
          </p:cNvCxnSpPr>
          <p:nvPr/>
        </p:nvCxnSpPr>
        <p:spPr>
          <a:xfrm flipV="1">
            <a:off x="5106773" y="2743646"/>
            <a:ext cx="488675" cy="577021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Ovale 30">
            <a:extLst>
              <a:ext uri="{FF2B5EF4-FFF2-40B4-BE49-F238E27FC236}">
                <a16:creationId xmlns:a16="http://schemas.microsoft.com/office/drawing/2014/main" id="{A97B929C-5AB4-66C7-BF34-43777206774E}"/>
              </a:ext>
            </a:extLst>
          </p:cNvPr>
          <p:cNvSpPr/>
          <p:nvPr/>
        </p:nvSpPr>
        <p:spPr>
          <a:xfrm>
            <a:off x="6541786" y="3220946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8D964B3A-8F0B-15DE-8747-D976ECFCBFE6}"/>
              </a:ext>
            </a:extLst>
          </p:cNvPr>
          <p:cNvSpPr/>
          <p:nvPr/>
        </p:nvSpPr>
        <p:spPr>
          <a:xfrm>
            <a:off x="4699362" y="3250766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91D9B05B-2BC0-0E39-D536-E1E912FE1C65}"/>
              </a:ext>
            </a:extLst>
          </p:cNvPr>
          <p:cNvSpPr/>
          <p:nvPr/>
        </p:nvSpPr>
        <p:spPr>
          <a:xfrm>
            <a:off x="8336920" y="3215286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73D3C6E7-5BAD-AEE7-E9FC-CEFBC0AA27C6}"/>
              </a:ext>
            </a:extLst>
          </p:cNvPr>
          <p:cNvSpPr txBox="1"/>
          <p:nvPr/>
        </p:nvSpPr>
        <p:spPr>
          <a:xfrm>
            <a:off x="8275960" y="2285236"/>
            <a:ext cx="190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Simulazione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9D1BEE23-D308-1A3D-B462-983B20371783}"/>
              </a:ext>
            </a:extLst>
          </p:cNvPr>
          <p:cNvSpPr txBox="1"/>
          <p:nvPr/>
        </p:nvSpPr>
        <p:spPr>
          <a:xfrm>
            <a:off x="6482920" y="2285236"/>
            <a:ext cx="190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Unity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F9EA1FC5-69E4-1712-0CF8-CED4AE780F5E}"/>
              </a:ext>
            </a:extLst>
          </p:cNvPr>
          <p:cNvSpPr txBox="1"/>
          <p:nvPr/>
        </p:nvSpPr>
        <p:spPr>
          <a:xfrm>
            <a:off x="4641448" y="2281981"/>
            <a:ext cx="190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ROS2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30DCCF79-3643-0440-5B95-8A17446991FB}"/>
              </a:ext>
            </a:extLst>
          </p:cNvPr>
          <p:cNvCxnSpPr>
            <a:cxnSpLocks/>
            <a:stCxn id="31" idx="7"/>
            <a:endCxn id="49" idx="2"/>
          </p:cNvCxnSpPr>
          <p:nvPr/>
        </p:nvCxnSpPr>
        <p:spPr>
          <a:xfrm flipV="1">
            <a:off x="6949197" y="2746901"/>
            <a:ext cx="487723" cy="54394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58A21ED3-54AA-6339-BD0B-3BF500AFA963}"/>
              </a:ext>
            </a:extLst>
          </p:cNvPr>
          <p:cNvCxnSpPr>
            <a:cxnSpLocks/>
            <a:stCxn id="37" idx="7"/>
            <a:endCxn id="48" idx="2"/>
          </p:cNvCxnSpPr>
          <p:nvPr/>
        </p:nvCxnSpPr>
        <p:spPr>
          <a:xfrm flipV="1">
            <a:off x="8744331" y="2746901"/>
            <a:ext cx="485629" cy="53828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130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A3-4DF8-62EC-72A2-32C48CDB7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6CF86A17-BF93-04DC-A411-959C8C54A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61C60AF4-780C-C52D-77A0-6F89C9438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10990D53-466E-E95A-72FB-D627667DD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8F6CCFB3-DB47-459D-0360-2C0AA2CA7910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73050E4C-941A-49D7-1A9C-95BB67113F57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C10CC756-EB6E-D774-687C-4952BE713C8B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0681B7CD-9836-FC28-A529-BF45421FD6AA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0FAD73C-111A-E57F-5AAA-E113BF6D1F1C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17E4BE0-480D-36B3-C14A-66CB7515FC57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Dominio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BC27DF5-5E79-9D7D-725E-9788E00BDCBE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Indice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758739D-EC6D-0D69-317E-25AE77D1CC49}"/>
              </a:ext>
            </a:extLst>
          </p:cNvPr>
          <p:cNvSpPr txBox="1"/>
          <p:nvPr/>
        </p:nvSpPr>
        <p:spPr>
          <a:xfrm>
            <a:off x="281548" y="751839"/>
            <a:ext cx="11628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8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1. Dominio</a:t>
            </a:r>
            <a:endParaRPr lang="it-IT" sz="20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3EC66A28-E2D5-15CA-864D-AF2BBE2CBA23}"/>
              </a:ext>
            </a:extLst>
          </p:cNvPr>
          <p:cNvSpPr/>
          <p:nvPr/>
        </p:nvSpPr>
        <p:spPr>
          <a:xfrm>
            <a:off x="21975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8E73CC47-53CD-B402-A978-FD03AF6BE27D}"/>
              </a:ext>
            </a:extLst>
          </p:cNvPr>
          <p:cNvSpPr/>
          <p:nvPr/>
        </p:nvSpPr>
        <p:spPr>
          <a:xfrm>
            <a:off x="2197565" y="3900875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0AA13140-0CE4-15F1-37A6-9CBF05F68FA9}"/>
              </a:ext>
            </a:extLst>
          </p:cNvPr>
          <p:cNvSpPr txBox="1"/>
          <p:nvPr/>
        </p:nvSpPr>
        <p:spPr>
          <a:xfrm>
            <a:off x="28475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F0A3DC-7C79-4855-7DD7-AFA614582550}"/>
              </a:ext>
            </a:extLst>
          </p:cNvPr>
          <p:cNvSpPr txBox="1"/>
          <p:nvPr/>
        </p:nvSpPr>
        <p:spPr>
          <a:xfrm>
            <a:off x="2847597" y="3908698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Ontologia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BE295DB3-749A-EBD5-219E-A07B7C9CF289}"/>
              </a:ext>
            </a:extLst>
          </p:cNvPr>
          <p:cNvSpPr/>
          <p:nvPr/>
        </p:nvSpPr>
        <p:spPr>
          <a:xfrm>
            <a:off x="74299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CBFBE44-66C2-5CF9-973E-8CCA9ADC2339}"/>
              </a:ext>
            </a:extLst>
          </p:cNvPr>
          <p:cNvSpPr txBox="1"/>
          <p:nvPr/>
        </p:nvSpPr>
        <p:spPr>
          <a:xfrm>
            <a:off x="80799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2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F08F5-B363-2A49-53CF-2DD387A78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09625CBB-8430-3111-7F8F-48B6439A61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863F1E7C-5499-8ECB-6EA5-D2188B995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0C087512-689F-51E5-369A-4FEC32DBC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A0DCA99E-AB1D-BF89-42F9-2D0D3FA75048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4E88FB93-9CC4-B9D6-0A87-736E39CA29FB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EA13BC75-8C6E-BEF3-A577-B843A1C51F18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AB085E-C341-D167-D2A6-DB51B0B9ECF8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61EAABE-8A88-286A-4C9D-CE266EFC98E0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F1FE7CFF-07B4-BDE4-0C45-34EE1A25055C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Scenari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5ADA732-509A-9EA7-21E0-095E5EDDEA25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1 – Dominio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3FEBC58-E3CE-C6B8-1243-CB8B913CAEED}"/>
              </a:ext>
            </a:extLst>
          </p:cNvPr>
          <p:cNvSpPr txBox="1"/>
          <p:nvPr/>
        </p:nvSpPr>
        <p:spPr>
          <a:xfrm>
            <a:off x="281549" y="738664"/>
            <a:ext cx="563450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Obiettivo del progetto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Implementazione di un Robot sociale autonomo ("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Pippor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") in ambiente alberghiero per assistenza a 360° e gestione emergenze.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Integrazione IoT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Il robot è connesso costantemente a braccialetti smart indossati dagli ospiti per il monitoraggio in tempo reale dei parametri vitali.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Intelligenza Ibrida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Il sistema unisce capacità di dialogo empatico (LLM) con ragionamento logico deterministico per garantire sicurezza operativa.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12627B91-22C7-CAF1-4706-9ACD92D0EAC8}"/>
              </a:ext>
            </a:extLst>
          </p:cNvPr>
          <p:cNvSpPr txBox="1"/>
          <p:nvPr/>
        </p:nvSpPr>
        <p:spPr>
          <a:xfrm>
            <a:off x="6275949" y="738664"/>
            <a:ext cx="5634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Vivamus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non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auctor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mollis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nulla viverra,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ullamcorper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Cras pulvinar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euismod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vulputate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ornare dui porta non.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rhoncus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in porta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faucibus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Curabitur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eget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dictum.</a:t>
            </a:r>
          </a:p>
          <a:p>
            <a:pPr algn="just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maximus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scelerisque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tincidunt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ultrices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Maecenas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 tempus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gravida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Donec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bibendum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elementum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posuere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purus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dapibus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hendrerit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accumsan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facilisis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massa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iaculis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volutpat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6F5D59C3-1DF9-E096-153A-D90D867FE60C}"/>
              </a:ext>
            </a:extLst>
          </p:cNvPr>
          <p:cNvCxnSpPr>
            <a:cxnSpLocks/>
          </p:cNvCxnSpPr>
          <p:nvPr/>
        </p:nvCxnSpPr>
        <p:spPr>
          <a:xfrm>
            <a:off x="6116320" y="609600"/>
            <a:ext cx="0" cy="55473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874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3D1F6-5903-D9C0-1BD3-182A5CEE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AA16722A-C95B-17C8-5233-2F6CC6617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C9B5ABC5-ECA6-F823-83E6-2CF611E38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8CF77E3F-E1AA-D2ED-F920-4E7DAA04F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8A4526A-C4AC-A5A5-8BD7-388836D29110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709DB9D5-4668-C8BF-0416-F1A2966D6FEF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F54E1F8C-E0E6-3EAC-CA1E-D1DC45C514EA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44286E0-D0F8-C701-9432-CDAF6C7CA41B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B62014A-C2BB-FC1E-92D7-091084D1D53D}"/>
              </a:ext>
            </a:extLst>
          </p:cNvPr>
          <p:cNvSpPr txBox="1"/>
          <p:nvPr/>
        </p:nvSpPr>
        <p:spPr>
          <a:xfrm>
            <a:off x="281548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075A237-1F4A-B62E-EB2C-83D2B5D1D381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Ontologia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5A7D31A-4B01-BBB0-1CC1-1FDE4E6DC20D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1 – Dominio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C77A7E2-DE21-CB80-F134-F9471941849C}"/>
              </a:ext>
            </a:extLst>
          </p:cNvPr>
          <p:cNvSpPr txBox="1"/>
          <p:nvPr/>
        </p:nvSpPr>
        <p:spPr>
          <a:xfrm>
            <a:off x="281549" y="738664"/>
            <a:ext cx="563450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Architettura della Conoscenza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Disaccoppiamento tra definizione strutturale (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TBox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 e istanze dinamiche (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ABox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).</a:t>
            </a:r>
          </a:p>
          <a:p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u="sng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Strumenti utilizzati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Protégé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Per la definizione formale di classi, proprietà e vincoli assiomatici.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Neo4j (</a:t>
            </a: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Graph</a:t>
            </a: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DB)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Per la gestione performante e scalabile delle istanze e delle relazioni in tempo reale.</a:t>
            </a:r>
          </a:p>
          <a:p>
            <a:pPr lvl="1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Coniuga l'espressività inferenziale del Web Semantico con la velocità di un database a grafo.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07A556-0E12-298A-8DC1-83C349DF0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4688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22193-D403-0C99-C0D2-D66113E6F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F815168C-3C57-8695-513C-642F1BE79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5F7A0FE3-8BA9-4DBB-83E4-772BCC0071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C5694746-0924-5B43-879E-A06EAA4A3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2FC2071F-B853-11B7-3EC8-D9981FDD4B74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20530D4-351B-C630-24D4-79DA1C24FC38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45B0D13-9F34-B33F-CFCA-F09211A0B19F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F119B7CB-2B1E-705C-D701-90BDF580F966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38AEDD-AF23-6440-5CF5-6DD1FF98B65B}"/>
              </a:ext>
            </a:extLst>
          </p:cNvPr>
          <p:cNvSpPr txBox="1"/>
          <p:nvPr/>
        </p:nvSpPr>
        <p:spPr>
          <a:xfrm>
            <a:off x="281548" y="6501842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571D664-8059-1172-E2D4-9ACDF46AC013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</a:t>
            </a:r>
            <a:endParaRPr lang="it-IT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EDEE53-78F5-FA8E-C771-75E22DEE07D5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2 – Dominio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8FDE6AE-3C9B-DB4B-4E47-E3A24568DABD}"/>
              </a:ext>
            </a:extLst>
          </p:cNvPr>
          <p:cNvSpPr txBox="1"/>
          <p:nvPr/>
        </p:nvSpPr>
        <p:spPr>
          <a:xfrm>
            <a:off x="281549" y="738664"/>
            <a:ext cx="563450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Open World </a:t>
            </a: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Assumption</a:t>
            </a: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(OWA)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Gestione dell'ambiguità modellando esplicitamente permessi e divieti nell'ontologia.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u="sng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Pipeline di Spiegazione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Istanziazione On-the-</a:t>
            </a: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fly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Estrazione del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sottografo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contestuale da Neo4j e conversione in OWL temporaneo.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Reasoning</a:t>
            </a: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(Java/</a:t>
            </a: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Openllet</a:t>
            </a: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Un modulo esterno traccia la catena causale delle inferenze per generare giustificazioni formali.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Sicurezza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Le azioni vengono inibite se esiste una spiegazione logica che le classifica come "Non Consigliabili".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E4F794A3-BD47-856A-7085-0BF4C5988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739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81DA8-DFA9-6D95-97C9-38C595EC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266DE541-474F-817F-D3E9-C99F9A045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B21E47B4-F8BC-DD5B-BAE8-A51C876F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B8101635-1551-9B9E-BCF9-797F308CA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80ADC207-2623-A87F-66EA-9B687B0416A1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BABE2092-CCB6-898B-6373-EC40CF93BDA6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047393F2-EB8C-1765-F4E4-C9E27ED0BB0D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2C1A1EA1-D726-1766-738D-ABB27AEC60F0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136CCB6-4A3C-0043-3D5B-43B42C991B95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1EDA7E6-2AE5-40A4-BF7B-634698C2170A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ROS2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63AA7C0-F354-7B4E-20AD-B28C07645DDD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Indice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F4AAF9A-A831-5246-FD81-55C70ECAA453}"/>
              </a:ext>
            </a:extLst>
          </p:cNvPr>
          <p:cNvSpPr txBox="1"/>
          <p:nvPr/>
        </p:nvSpPr>
        <p:spPr>
          <a:xfrm>
            <a:off x="281548" y="751839"/>
            <a:ext cx="11628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8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2. ROS2</a:t>
            </a:r>
            <a:endParaRPr lang="it-IT" sz="20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A7291DCA-1117-C20E-AEC9-3D0A58777274}"/>
              </a:ext>
            </a:extLst>
          </p:cNvPr>
          <p:cNvSpPr/>
          <p:nvPr/>
        </p:nvSpPr>
        <p:spPr>
          <a:xfrm>
            <a:off x="21975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56D2261F-730E-E723-8C75-621E8D5D78A8}"/>
              </a:ext>
            </a:extLst>
          </p:cNvPr>
          <p:cNvSpPr/>
          <p:nvPr/>
        </p:nvSpPr>
        <p:spPr>
          <a:xfrm>
            <a:off x="2197565" y="3900875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15FA98B1-C4EC-5A91-5C38-49D40643C7B4}"/>
              </a:ext>
            </a:extLst>
          </p:cNvPr>
          <p:cNvSpPr txBox="1"/>
          <p:nvPr/>
        </p:nvSpPr>
        <p:spPr>
          <a:xfrm>
            <a:off x="2847597" y="2316849"/>
            <a:ext cx="216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Architettura e Arbitraggio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2A16B12-1208-6AB7-584A-A3070431FFBE}"/>
              </a:ext>
            </a:extLst>
          </p:cNvPr>
          <p:cNvSpPr txBox="1"/>
          <p:nvPr/>
        </p:nvSpPr>
        <p:spPr>
          <a:xfrm>
            <a:off x="2847597" y="3908698"/>
            <a:ext cx="216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Navigazione e Sensoristica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6C1C1316-4B9F-8821-EBB9-199ACBD7CCE1}"/>
              </a:ext>
            </a:extLst>
          </p:cNvPr>
          <p:cNvSpPr/>
          <p:nvPr/>
        </p:nvSpPr>
        <p:spPr>
          <a:xfrm>
            <a:off x="74299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7A26FD9B-171B-B0DD-B7E6-4CA03E5498BD}"/>
              </a:ext>
            </a:extLst>
          </p:cNvPr>
          <p:cNvSpPr/>
          <p:nvPr/>
        </p:nvSpPr>
        <p:spPr>
          <a:xfrm>
            <a:off x="7429965" y="3900875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61907C8-154A-D006-37FA-7155266F44FD}"/>
              </a:ext>
            </a:extLst>
          </p:cNvPr>
          <p:cNvSpPr txBox="1"/>
          <p:nvPr/>
        </p:nvSpPr>
        <p:spPr>
          <a:xfrm>
            <a:off x="80799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ROS2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D30887B-69A7-6C7D-CDA6-7F5B1A0C8307}"/>
              </a:ext>
            </a:extLst>
          </p:cNvPr>
          <p:cNvSpPr txBox="1"/>
          <p:nvPr/>
        </p:nvSpPr>
        <p:spPr>
          <a:xfrm>
            <a:off x="8079997" y="3908698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ROS2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83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23E8A-2C8A-5828-CB40-D63645F7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36E6989C-BD4B-41B5-CC5E-3F1C26B1EA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EF3B6538-70EA-EC68-0E74-D9BA5F49E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B2AAC7BB-34F5-96C1-FB77-AC0E29B63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0C80463-CEF3-DA38-2328-CC9C36FC4180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4219F764-7575-32FE-251A-E94CAEDD88F1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D3E8F006-436E-5901-DD4E-38631B8335EC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3F76DDC1-E19D-7541-A79F-8F057071C3ED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77603F9-BC9B-FFED-29FA-79184A805D04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053743D-B176-E896-6CE5-3EAD2A1ABD09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Architettura e Arbitraggio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DB0CBDD-B002-9988-1C7B-C8361887B248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2 – ROS2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D1B8EE1-E4E3-4E98-D2FC-FDDCA036E545}"/>
              </a:ext>
            </a:extLst>
          </p:cNvPr>
          <p:cNvSpPr txBox="1"/>
          <p:nvPr/>
        </p:nvSpPr>
        <p:spPr>
          <a:xfrm>
            <a:off x="281549" y="738664"/>
            <a:ext cx="563450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Sistema di Arbitraggio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Architettura a soppressione (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Subsumption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 basata su priorità fisse, non una semplice macchina a stati.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u="sng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Gerarchia delle Priorità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Sicurezza (Scenario C)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Salvaguardia dell'ospite (priorità assoluta).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Energia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Ricarica batteria (sacrificabile in caso di emergenza medica).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Servizi Sociali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Assistenza e Concierge (Scenari A, B).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1CA7779-4F77-2DB0-B061-B00980E6044C}"/>
              </a:ext>
            </a:extLst>
          </p:cNvPr>
          <p:cNvSpPr txBox="1"/>
          <p:nvPr/>
        </p:nvSpPr>
        <p:spPr>
          <a:xfrm>
            <a:off x="6275949" y="738664"/>
            <a:ext cx="5634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Vivamus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non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auctor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mollis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nulla viverra,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ullamcorper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Cras pulvinar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euismod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vulputate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ornare dui porta non.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rhoncus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in porta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faucibus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Curabitur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eget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dictum.</a:t>
            </a:r>
          </a:p>
          <a:p>
            <a:pPr algn="just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maximus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scelerisque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tincidunt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ultrices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Maecenas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 tempus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gravida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Donec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bibendum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elementum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posuere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purus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dapibus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hendrerit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accumsan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facilisis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massa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iaculis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volutpat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972B7CB5-7266-3B51-A827-D209EDB89006}"/>
              </a:ext>
            </a:extLst>
          </p:cNvPr>
          <p:cNvCxnSpPr>
            <a:cxnSpLocks/>
          </p:cNvCxnSpPr>
          <p:nvPr/>
        </p:nvCxnSpPr>
        <p:spPr>
          <a:xfrm>
            <a:off x="6116320" y="609600"/>
            <a:ext cx="0" cy="55473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5477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5353-43A6-FCF1-0B1F-DD3B1A9D8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45F63F36-E67F-3BDD-B33D-D871F0214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DBF7588F-F71B-5825-C02A-730E27659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B88C42C5-D9D0-0830-66CA-F51FAC1ED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763C81A6-100B-A8F8-6828-93DA5F170032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4DFED671-C2EC-75F8-B8D3-6D561FD27085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EECDCE8-BB0A-8ADC-4137-02277B0EABA8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4A5B7B15-BB49-4E5E-29A4-C963BF33CB40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CFE938-F8D9-B6F8-4112-17708A98ACED}"/>
              </a:ext>
            </a:extLst>
          </p:cNvPr>
          <p:cNvSpPr txBox="1"/>
          <p:nvPr/>
        </p:nvSpPr>
        <p:spPr>
          <a:xfrm>
            <a:off x="281548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93F4CB-7762-D8DE-A1DF-38C8C3DCF7BC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Navigazione e Sensoristica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445B90E-78D6-5C3A-8281-4E67C5B05878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2 – ROS2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657A57B-EBED-16F5-E440-5ADC7A67B85C}"/>
              </a:ext>
            </a:extLst>
          </p:cNvPr>
          <p:cNvSpPr txBox="1"/>
          <p:nvPr/>
        </p:nvSpPr>
        <p:spPr>
          <a:xfrm>
            <a:off x="281549" y="738664"/>
            <a:ext cx="563450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Pianificazione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Algoritmo A* custom su griglia 8-connected con prevenzione del taglio degli angoli ("Corner Cutting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Prevention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").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Localizzazione (AMCL)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Filtro particellare adattivo che stima la posa (x, y, θ) unendo dati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odometrici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 laser.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Analisi Biometrica (Filtro di </a:t>
            </a:r>
            <a:r>
              <a:rPr lang="it-IT" sz="16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Kalman</a:t>
            </a: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Modulo custom per filtrare il rumore dei braccialetti smart e predire trend di pressione/battito, scartando anomalie momentanee.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8CEEF7-6379-40C0-3522-FFB3BAE08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4528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7A654-8DF8-46D2-E86F-2F4FF3745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9F8FC054-47BD-ABD3-11D6-09919EF95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E120492E-C92A-BA98-EDCD-AA65FE784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FC8486B1-9B76-A820-18E1-42F31BEEC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BD7B6FB9-7BAA-BE32-4043-7B6255811A05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32CA60C3-B576-B4C3-B17B-4C8A4D8E5C3F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6BBE7F7D-8CA0-98D7-1247-2BF588EB119B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CECD3240-1DEA-6816-57C3-2F869A488250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86240B4-2F43-B078-02A0-2DE7871F6F6B}"/>
              </a:ext>
            </a:extLst>
          </p:cNvPr>
          <p:cNvSpPr txBox="1"/>
          <p:nvPr/>
        </p:nvSpPr>
        <p:spPr>
          <a:xfrm>
            <a:off x="281548" y="6501842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31DDB2E-F125-FB5E-41E4-7EFED5B34817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</a:t>
            </a:r>
            <a:endParaRPr lang="it-IT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67FF085-D160-5E18-8DD5-73ED4C610556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2 – ROS2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B203B05-F264-FB77-C113-4A8D7705D7FB}"/>
              </a:ext>
            </a:extLst>
          </p:cNvPr>
          <p:cNvSpPr txBox="1"/>
          <p:nvPr/>
        </p:nvSpPr>
        <p:spPr>
          <a:xfrm>
            <a:off x="281549" y="738664"/>
            <a:ext cx="56345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Vivamus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non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auctor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mollis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nulla viverra,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ullamcorper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Cras pulvinar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euismod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vulputate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ornare dui porta non.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rhoncus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in porta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faucibus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Curabitur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eget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dictum.</a:t>
            </a:r>
          </a:p>
          <a:p>
            <a:pPr algn="just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maximus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scelerisque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tincidunt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ultrices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Maecenas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 tempus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gravida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Donec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bibendum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elementum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posuere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purus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dapibus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hendrerit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accumsan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facilisis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massa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iaculis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volutpat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2BE0F144-B3F8-FA3D-9767-2F7CF523F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542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33A9-FF70-507D-74B2-AFED0DD3F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066F105B-4BAC-8CD7-3F2E-D023FE44E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9F62952C-4E5C-846E-C662-E41B55F64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94634013-CBBF-1A8A-577E-9DB3099B3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002BCCB-E4BB-731D-2BDC-FF47D93BC882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E5873275-5F77-D00F-8946-2FC4E2CCD80E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34F94E03-4E07-A3DC-B340-D5ED09AB1DA0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ABAD553E-722E-B44A-BBD0-3E02E7864875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6EEF787-087F-78A9-C152-76B7A5C4C51B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9E983F9-8D8B-269C-F2D5-34C49F8CD239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Unity</a:t>
            </a:r>
            <a:endParaRPr lang="it-IT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09C4C6-929D-1DF9-EF83-B8A6D1AF0089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Indice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2D3CC24-7D6A-CFE8-86FE-3CE7166843D0}"/>
              </a:ext>
            </a:extLst>
          </p:cNvPr>
          <p:cNvSpPr txBox="1"/>
          <p:nvPr/>
        </p:nvSpPr>
        <p:spPr>
          <a:xfrm>
            <a:off x="281548" y="751839"/>
            <a:ext cx="11628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8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3. </a:t>
            </a:r>
            <a:r>
              <a:rPr lang="it-IT" sz="4800" b="1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Unity</a:t>
            </a:r>
            <a:endParaRPr lang="it-IT" sz="20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AAE0123A-7FB8-8483-0BB4-5645D8D6E27E}"/>
              </a:ext>
            </a:extLst>
          </p:cNvPr>
          <p:cNvSpPr/>
          <p:nvPr/>
        </p:nvSpPr>
        <p:spPr>
          <a:xfrm>
            <a:off x="21975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01DD1FC9-01D7-A501-5BFB-DBE7C89CFC30}"/>
              </a:ext>
            </a:extLst>
          </p:cNvPr>
          <p:cNvSpPr/>
          <p:nvPr/>
        </p:nvSpPr>
        <p:spPr>
          <a:xfrm>
            <a:off x="2197565" y="3900875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43FD58-DB69-D301-D588-083F1BF6D48B}"/>
              </a:ext>
            </a:extLst>
          </p:cNvPr>
          <p:cNvSpPr txBox="1"/>
          <p:nvPr/>
        </p:nvSpPr>
        <p:spPr>
          <a:xfrm>
            <a:off x="28475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Ambiente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4A3A0F7-84D2-CF08-037E-7CFF06D08DC6}"/>
              </a:ext>
            </a:extLst>
          </p:cNvPr>
          <p:cNvSpPr txBox="1"/>
          <p:nvPr/>
        </p:nvSpPr>
        <p:spPr>
          <a:xfrm>
            <a:off x="2847597" y="3908698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Robot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544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BCB8A-DC27-7C9E-4537-B5C8CE2E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48960495-717D-F6D7-707A-B8BDA96B6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0EC8C308-04BB-F90E-93A9-F6593387F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D806E468-F473-10ED-F5A5-5D900067F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BA3B7967-C6CA-FDF7-21D2-64D4DDDEA413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5552575A-B7C6-494D-6165-A4FD37941412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6FCE3BB-3A37-2AC7-383E-C36ADCF34E20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3140D142-3C18-3F04-CCF6-B0B839E5B639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6D330BA-316E-23BB-AC44-5F895407108D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52962D3-7E83-22DD-293D-585EE71267E1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Scenari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F7E5BF7-1F3D-AF8E-21BF-A2FE8C83B180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1 – Dominio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DCEE42A-59C9-F2CA-431C-B176C1D0471C}"/>
              </a:ext>
            </a:extLst>
          </p:cNvPr>
          <p:cNvSpPr txBox="1"/>
          <p:nvPr/>
        </p:nvSpPr>
        <p:spPr>
          <a:xfrm>
            <a:off x="281549" y="738664"/>
            <a:ext cx="563450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Design Funzionale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Hotel realistico diviso in Reception, Corridoi (sfida per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path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planning) 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CoffeeRoom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(ambiente denso non strutturato).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u="sng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Ostacoli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Statici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Muri e arredi "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bakerizzati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" nella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NavMesh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Dinamici (NPC)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Agenti intelligenti con identità e parametri vitali (da Neo4j) che agiscono come ostacoli improvvisi.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09C0696-8813-0A9B-35D3-C4DAB655AB3D}"/>
              </a:ext>
            </a:extLst>
          </p:cNvPr>
          <p:cNvSpPr txBox="1"/>
          <p:nvPr/>
        </p:nvSpPr>
        <p:spPr>
          <a:xfrm>
            <a:off x="6275949" y="738664"/>
            <a:ext cx="5634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Vivamus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non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auctor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mollis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nulla viverra,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ullamcorper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Cras pulvinar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euismod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vulputate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ornare dui porta non.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rhoncus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in porta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faucibus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Curabitur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eget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dictum.</a:t>
            </a:r>
          </a:p>
          <a:p>
            <a:pPr algn="just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maximus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scelerisque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tincidunt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ultrices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Maecenas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 tempus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gravida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Donec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bibendum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elementum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posuere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purus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dapibus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hendrerit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accumsan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facilisis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massa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iaculis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volutpat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52BFB959-2D54-F5B1-8FEC-B05F78C98C66}"/>
              </a:ext>
            </a:extLst>
          </p:cNvPr>
          <p:cNvCxnSpPr>
            <a:cxnSpLocks/>
          </p:cNvCxnSpPr>
          <p:nvPr/>
        </p:nvCxnSpPr>
        <p:spPr>
          <a:xfrm>
            <a:off x="6116320" y="609600"/>
            <a:ext cx="0" cy="55473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035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0C1C-5C15-070F-B745-F30D9FD78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88313D8C-D686-705F-B3B5-47B4335E4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D57FE690-8DE4-9EFD-DE36-53B9685B4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26868C5B-FF7A-5498-CC47-B3B29E1B8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DD4338B-852D-63F1-778F-12FC1DEEB579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256C2DF1-A8D7-5342-0198-C80E843D0CBB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F7D59DCE-2D6B-7E40-106F-0BBA93711875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40CDDD76-64B5-BF29-FAFB-D0BA5D4423E5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643010-D148-A967-4432-085A4EF78C81}"/>
              </a:ext>
            </a:extLst>
          </p:cNvPr>
          <p:cNvSpPr txBox="1"/>
          <p:nvPr/>
        </p:nvSpPr>
        <p:spPr>
          <a:xfrm>
            <a:off x="281548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B88337A-5813-247F-6B4F-3921AF94F7F7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Ontologia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247CF39-477F-DAA7-9594-FD827F9A25BA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1 – Dominio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FC7D4EE-2C20-51C9-99FD-B1F5E79052C7}"/>
              </a:ext>
            </a:extLst>
          </p:cNvPr>
          <p:cNvSpPr txBox="1"/>
          <p:nvPr/>
        </p:nvSpPr>
        <p:spPr>
          <a:xfrm>
            <a:off x="281549" y="738664"/>
            <a:ext cx="563450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Fisica Realistica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Simulazione Multi-Body con massa reale dello chassis (28kg) che ha richiesto un tuning avanzato di Torque e Damping per evitare inerzia eccessiva.</a:t>
            </a:r>
          </a:p>
          <a:p>
            <a:pPr algn="just"/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Guida Differenziale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Utilizzo di componenti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ArticulationBody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per stabilità cinematica superiore rispetto ai joint classici.</a:t>
            </a:r>
          </a:p>
          <a:p>
            <a:pPr algn="just"/>
            <a:b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Percezione (Lidar)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Simulazione via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Raycasting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che interseca i Collider fisici e serializza i dati in messaggi ROS2 standard.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8D5EA28-6A64-5D43-B78D-BBF55BB47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0623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BB5C0-0FBF-CB13-AAB5-830C91AFA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1EF2575D-0B98-200F-FCA2-A2A15EA56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AE12CF36-65DE-5A0E-B498-F82F24595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8F4C535D-2F9C-78C1-B44F-AE4233268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82F05CA-839A-C2EA-01A6-C3E283615D3D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1776C37C-16CF-725C-75DB-31AE40971C22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37CD429-013A-B9C0-13C3-C79B6D72DA3F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97B3B591-ACE1-9CA2-25F4-4FA5645C5334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DAD4A74-43F5-7395-B6B0-ACA7B16ACA06}"/>
              </a:ext>
            </a:extLst>
          </p:cNvPr>
          <p:cNvSpPr txBox="1"/>
          <p:nvPr/>
        </p:nvSpPr>
        <p:spPr>
          <a:xfrm>
            <a:off x="281548" y="6501842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96C3E7-1393-96CC-06D5-14A27B7295AB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Explainability</a:t>
            </a:r>
            <a:endParaRPr lang="it-IT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2967807-6C8F-714D-A662-29A96AB41A3B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2 – Dominio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30CC58A4-54B6-6C41-F97D-08C3E67410E2}"/>
              </a:ext>
            </a:extLst>
          </p:cNvPr>
          <p:cNvSpPr txBox="1"/>
          <p:nvPr/>
        </p:nvSpPr>
        <p:spPr>
          <a:xfrm>
            <a:off x="281549" y="738664"/>
            <a:ext cx="56345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Vivamus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non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auctor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mollis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nulla viverra,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ullamcorper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Cras pulvinar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euismod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vulputate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ornare dui porta non.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rhoncus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in porta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faucibus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Curabitur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eget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dictum.</a:t>
            </a:r>
          </a:p>
          <a:p>
            <a:pPr algn="just"/>
            <a:endParaRPr lang="it-IT" sz="16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maximus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scelerisque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augue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nibh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tincidunt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ultrices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Maecenas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a tempus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gravida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Donec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bibendum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leo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elementum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posuere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purus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viverra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dapibus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Aenean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vitae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tellus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eros.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Integer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hendrerit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accumsan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arcu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facilisis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massa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iaculis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volutpat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5479BCB-8054-CB6D-1B91-506D1B38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70815" y="718964"/>
            <a:ext cx="4905698" cy="538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235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13B39-1C3C-6E5D-2A69-E44FB3E77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3A056874-6D63-DA4B-57AE-E109F827A2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008B0889-BE7E-20B4-A507-F5D11554B1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5F3F81BF-D95C-B01E-FC97-BA635C643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9F97DEF-E26E-0944-CEB2-A5B47B3DE530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FF284578-21D4-5DBB-41BE-1A5611415AF3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0399E58-F607-5A52-A38B-417F5A7CDC3A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08FF8DFB-5845-1914-9601-6B85F9DC5A67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8C662FD-CA51-CF4C-AD62-B73AD78FC02B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7D1F444-0EE9-F9E9-E2CE-220BED201D92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Simulazione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EB9274D-22B0-6D19-074F-E3BF5B674A78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Indice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C0EC029-012D-BE0C-3629-552F2512995B}"/>
              </a:ext>
            </a:extLst>
          </p:cNvPr>
          <p:cNvSpPr txBox="1"/>
          <p:nvPr/>
        </p:nvSpPr>
        <p:spPr>
          <a:xfrm>
            <a:off x="281548" y="751839"/>
            <a:ext cx="11628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8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4. Simulazione</a:t>
            </a:r>
            <a:endParaRPr lang="it-IT" sz="200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E37DFEDD-9C27-2968-FD2B-42DCAA90FB49}"/>
              </a:ext>
            </a:extLst>
          </p:cNvPr>
          <p:cNvSpPr/>
          <p:nvPr/>
        </p:nvSpPr>
        <p:spPr>
          <a:xfrm>
            <a:off x="21975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EB2171E6-2E0D-DD14-B767-A77328CAC0CA}"/>
              </a:ext>
            </a:extLst>
          </p:cNvPr>
          <p:cNvSpPr/>
          <p:nvPr/>
        </p:nvSpPr>
        <p:spPr>
          <a:xfrm>
            <a:off x="2197565" y="3900875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548CAA76-7FD7-E6C9-066A-022A95E45956}"/>
              </a:ext>
            </a:extLst>
          </p:cNvPr>
          <p:cNvSpPr txBox="1"/>
          <p:nvPr/>
        </p:nvSpPr>
        <p:spPr>
          <a:xfrm>
            <a:off x="28475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A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EA6FF9C-450B-CA41-9183-4844C0F4CF2C}"/>
              </a:ext>
            </a:extLst>
          </p:cNvPr>
          <p:cNvSpPr txBox="1"/>
          <p:nvPr/>
        </p:nvSpPr>
        <p:spPr>
          <a:xfrm>
            <a:off x="2847597" y="3908698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B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3977A0C9-BB3C-B4E0-8A0A-693E422164D7}"/>
              </a:ext>
            </a:extLst>
          </p:cNvPr>
          <p:cNvSpPr/>
          <p:nvPr/>
        </p:nvSpPr>
        <p:spPr>
          <a:xfrm>
            <a:off x="7429965" y="2303761"/>
            <a:ext cx="477312" cy="477312"/>
          </a:xfrm>
          <a:prstGeom prst="ellipse">
            <a:avLst/>
          </a:prstGeom>
          <a:solidFill>
            <a:schemeClr val="bg1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C98B269-7621-0CAD-C140-86FDEC0A9137}"/>
              </a:ext>
            </a:extLst>
          </p:cNvPr>
          <p:cNvSpPr txBox="1"/>
          <p:nvPr/>
        </p:nvSpPr>
        <p:spPr>
          <a:xfrm>
            <a:off x="8079997" y="2316849"/>
            <a:ext cx="216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C</a:t>
            </a:r>
            <a:endParaRPr lang="it-IT" sz="1050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65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05B22-8F05-F7D4-E2F0-BA28E719C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4C34396F-6433-865F-88AA-E1FC47E6F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8BE353A2-FC55-FB58-A273-75FD05C40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96AC7D0B-0AED-88CC-DA8A-12167FE83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9147AAB-C479-99B5-31C5-11D39F642EC3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75BC1AA1-B9CE-01BC-A2C4-912B449E6138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34FB17A1-EA9C-1877-CD51-D13B1710C569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4832762F-D6AE-657B-1481-B87545B954D7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200CDFE-006A-88EB-6058-7C0FB90FD995}"/>
              </a:ext>
            </a:extLst>
          </p:cNvPr>
          <p:cNvSpPr txBox="1"/>
          <p:nvPr/>
        </p:nvSpPr>
        <p:spPr>
          <a:xfrm>
            <a:off x="281549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0F9C99-153D-4D01-3FEB-5911B9A75CA8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4 – Simulazione</a:t>
            </a:r>
          </a:p>
        </p:txBody>
      </p:sp>
      <p:pic>
        <p:nvPicPr>
          <p:cNvPr id="9" name="video_card">
            <a:hlinkClick r:id="" action="ppaction://media"/>
            <a:extLst>
              <a:ext uri="{FF2B5EF4-FFF2-40B4-BE49-F238E27FC236}">
                <a16:creationId xmlns:a16="http://schemas.microsoft.com/office/drawing/2014/main" id="{D01F8B90-8A55-4872-A318-944C9350598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1549" y="859635"/>
            <a:ext cx="9157091" cy="513873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053645A-327B-510D-67B9-EFB6BE3D011A}"/>
              </a:ext>
            </a:extLst>
          </p:cNvPr>
          <p:cNvSpPr txBox="1"/>
          <p:nvPr/>
        </p:nvSpPr>
        <p:spPr>
          <a:xfrm>
            <a:off x="9611360" y="859634"/>
            <a:ext cx="241046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036DBA4-56AB-F870-AB3B-738503E8149F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A</a:t>
            </a:r>
          </a:p>
        </p:txBody>
      </p:sp>
    </p:spTree>
    <p:extLst>
      <p:ext uri="{BB962C8B-B14F-4D97-AF65-F5344CB8AC3E}">
        <p14:creationId xmlns:p14="http://schemas.microsoft.com/office/powerpoint/2010/main" val="558507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3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F0818-C56B-7884-A8D1-8939D3BAE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FC199718-AF4D-D14D-6528-3B74085F9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2FF46718-1AF8-C8D8-BF5F-A794DF6BD7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C38B6B08-8FFE-3151-51BD-690CE0DBF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B3DD8ED1-362E-F274-C218-DAD8664D14E3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126016D1-4963-C69D-837E-5833CC2BDC2F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09ABBE0-99E4-2E54-934A-2A696753ACEA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065A4088-7047-47AE-96D8-166CE48F7C7C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C4E938-CEEC-E7FB-EE5D-59B94A574755}"/>
              </a:ext>
            </a:extLst>
          </p:cNvPr>
          <p:cNvSpPr txBox="1"/>
          <p:nvPr/>
        </p:nvSpPr>
        <p:spPr>
          <a:xfrm>
            <a:off x="281548" y="648866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AABBD9D-7DAC-C4A8-EBB6-9AE551F8D693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4 – Simulazione</a:t>
            </a:r>
          </a:p>
        </p:txBody>
      </p:sp>
      <p:pic>
        <p:nvPicPr>
          <p:cNvPr id="9" name="video_card">
            <a:hlinkClick r:id="" action="ppaction://media"/>
            <a:extLst>
              <a:ext uri="{FF2B5EF4-FFF2-40B4-BE49-F238E27FC236}">
                <a16:creationId xmlns:a16="http://schemas.microsoft.com/office/drawing/2014/main" id="{B299B518-ADFB-12D2-00AC-13C5A36624A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1549" y="859635"/>
            <a:ext cx="9157091" cy="513873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99CE614-1C41-53C4-2728-4A30C9086278}"/>
              </a:ext>
            </a:extLst>
          </p:cNvPr>
          <p:cNvSpPr txBox="1"/>
          <p:nvPr/>
        </p:nvSpPr>
        <p:spPr>
          <a:xfrm>
            <a:off x="9611360" y="859634"/>
            <a:ext cx="241046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8116890-783F-3984-DEC7-3BFFC5AFE1A6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B</a:t>
            </a:r>
          </a:p>
        </p:txBody>
      </p:sp>
    </p:spTree>
    <p:extLst>
      <p:ext uri="{BB962C8B-B14F-4D97-AF65-F5344CB8AC3E}">
        <p14:creationId xmlns:p14="http://schemas.microsoft.com/office/powerpoint/2010/main" val="1595187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3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C95D-4707-A0B5-70D7-5FBBD38C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9">
            <a:extLst>
              <a:ext uri="{FF2B5EF4-FFF2-40B4-BE49-F238E27FC236}">
                <a16:creationId xmlns:a16="http://schemas.microsoft.com/office/drawing/2014/main" id="{AF1EA78E-FAD0-3A64-D59C-F7A91E438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" name="Rectangle 11">
            <a:extLst>
              <a:ext uri="{FF2B5EF4-FFF2-40B4-BE49-F238E27FC236}">
                <a16:creationId xmlns:a16="http://schemas.microsoft.com/office/drawing/2014/main" id="{08AAB71B-FD71-13F9-A942-9BF38CB4A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" name="Rectangle 13">
            <a:extLst>
              <a:ext uri="{FF2B5EF4-FFF2-40B4-BE49-F238E27FC236}">
                <a16:creationId xmlns:a16="http://schemas.microsoft.com/office/drawing/2014/main" id="{8AFEE9B7-FBE1-74F0-CAA8-B564A21AB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E3DA758F-54F1-0AA2-CFDF-B7FF807C26B2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4E223CD9-C964-3FF2-BA09-AEE99BAFF5E6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E730A13A-5FD8-49BA-78C0-B6AFB68FD527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E173CACA-5FAF-41F9-D991-F73F78197410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F899453-F55A-C327-CA06-D9C5F7A674F5}"/>
              </a:ext>
            </a:extLst>
          </p:cNvPr>
          <p:cNvSpPr txBox="1"/>
          <p:nvPr/>
        </p:nvSpPr>
        <p:spPr>
          <a:xfrm>
            <a:off x="281548" y="6501842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8264396-599E-4EC9-9AE6-955DC506BD32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4 – Simulazione</a:t>
            </a:r>
          </a:p>
        </p:txBody>
      </p:sp>
      <p:pic>
        <p:nvPicPr>
          <p:cNvPr id="9" name="video_card">
            <a:hlinkClick r:id="" action="ppaction://media"/>
            <a:extLst>
              <a:ext uri="{FF2B5EF4-FFF2-40B4-BE49-F238E27FC236}">
                <a16:creationId xmlns:a16="http://schemas.microsoft.com/office/drawing/2014/main" id="{743AC4A0-EA49-B306-8C75-4AB291CF842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1549" y="859635"/>
            <a:ext cx="9157091" cy="513873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15FAE41-53B3-DBCA-F688-92D52CB5DC37}"/>
              </a:ext>
            </a:extLst>
          </p:cNvPr>
          <p:cNvSpPr txBox="1"/>
          <p:nvPr/>
        </p:nvSpPr>
        <p:spPr>
          <a:xfrm>
            <a:off x="9611360" y="859634"/>
            <a:ext cx="241046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Lorem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adipiscing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Aliquam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vehicula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risus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laoreet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ipsum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varius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dignissim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dolor sed,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diam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Ut id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cursus viverra.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Vestibulum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interdum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pellentesque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magna, vel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pharetra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nisi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lobortis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id. Nulla sed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sollicitudin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velit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a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consectetur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it-IT" sz="1600" dirty="0" err="1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neque</a:t>
            </a:r>
            <a:r>
              <a:rPr lang="it-IT" sz="1600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1670553-9C14-96FD-F028-FC45AE5F7649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Scenario C</a:t>
            </a:r>
          </a:p>
        </p:txBody>
      </p:sp>
    </p:spTree>
    <p:extLst>
      <p:ext uri="{BB962C8B-B14F-4D97-AF65-F5344CB8AC3E}">
        <p14:creationId xmlns:p14="http://schemas.microsoft.com/office/powerpoint/2010/main" val="568022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3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F58A2-DB04-786E-3CF5-10891C443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9">
            <a:extLst>
              <a:ext uri="{FF2B5EF4-FFF2-40B4-BE49-F238E27FC236}">
                <a16:creationId xmlns:a16="http://schemas.microsoft.com/office/drawing/2014/main" id="{87A899A0-DDF8-62EA-1C5F-A9C6CE1D8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Rectangle 11">
            <a:extLst>
              <a:ext uri="{FF2B5EF4-FFF2-40B4-BE49-F238E27FC236}">
                <a16:creationId xmlns:a16="http://schemas.microsoft.com/office/drawing/2014/main" id="{88C30FF3-4D16-E9FF-02F1-C152BFCFA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Rectangle 13">
            <a:extLst>
              <a:ext uri="{FF2B5EF4-FFF2-40B4-BE49-F238E27FC236}">
                <a16:creationId xmlns:a16="http://schemas.microsoft.com/office/drawing/2014/main" id="{61181BFD-2895-3F58-87A0-8AC19231B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853D3C66-353F-355A-7D95-243DA99D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493" y="375919"/>
            <a:ext cx="3901011" cy="2160370"/>
          </a:xfrm>
          <a:prstGeom prst="rect">
            <a:avLst/>
          </a:prstGeom>
          <a:ln>
            <a:noFill/>
          </a:ln>
        </p:spPr>
      </p:pic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4AE1B88-AD72-F820-D30A-7CA9DB0E2484}"/>
              </a:ext>
            </a:extLst>
          </p:cNvPr>
          <p:cNvSpPr txBox="1"/>
          <p:nvPr/>
        </p:nvSpPr>
        <p:spPr>
          <a:xfrm>
            <a:off x="3397053" y="2465149"/>
            <a:ext cx="53978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Grazie per</a:t>
            </a:r>
          </a:p>
          <a:p>
            <a:pPr algn="ctr"/>
            <a:r>
              <a:rPr lang="it-IT" sz="5400" b="1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l’attenzione</a:t>
            </a:r>
            <a:endParaRPr lang="it-IT" sz="3600" b="1" dirty="0">
              <a:solidFill>
                <a:srgbClr val="0070C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343F90E4-911D-72D9-13DF-F824023E02D3}"/>
              </a:ext>
            </a:extLst>
          </p:cNvPr>
          <p:cNvCxnSpPr>
            <a:cxnSpLocks/>
          </p:cNvCxnSpPr>
          <p:nvPr/>
        </p:nvCxnSpPr>
        <p:spPr>
          <a:xfrm>
            <a:off x="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diritto 36">
            <a:extLst>
              <a:ext uri="{FF2B5EF4-FFF2-40B4-BE49-F238E27FC236}">
                <a16:creationId xmlns:a16="http://schemas.microsoft.com/office/drawing/2014/main" id="{1988FE45-6AB0-820A-6D4A-6BC650E7EA04}"/>
              </a:ext>
            </a:extLst>
          </p:cNvPr>
          <p:cNvCxnSpPr>
            <a:cxnSpLocks/>
          </p:cNvCxnSpPr>
          <p:nvPr/>
        </p:nvCxnSpPr>
        <p:spPr>
          <a:xfrm>
            <a:off x="8592000" y="6482080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1881E9BC-2149-DB44-868C-7B6CC620C9EF}"/>
              </a:ext>
            </a:extLst>
          </p:cNvPr>
          <p:cNvCxnSpPr>
            <a:cxnSpLocks/>
          </p:cNvCxnSpPr>
          <p:nvPr/>
        </p:nvCxnSpPr>
        <p:spPr>
          <a:xfrm>
            <a:off x="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9" name="Connettore diritto 38">
            <a:extLst>
              <a:ext uri="{FF2B5EF4-FFF2-40B4-BE49-F238E27FC236}">
                <a16:creationId xmlns:a16="http://schemas.microsoft.com/office/drawing/2014/main" id="{B71ABEF3-0792-2BB3-273E-79116F3BA0B0}"/>
              </a:ext>
            </a:extLst>
          </p:cNvPr>
          <p:cNvCxnSpPr>
            <a:cxnSpLocks/>
          </p:cNvCxnSpPr>
          <p:nvPr/>
        </p:nvCxnSpPr>
        <p:spPr>
          <a:xfrm>
            <a:off x="8592000" y="375919"/>
            <a:ext cx="360000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AC21FCF-1C84-7BD6-014A-41419E24F590}"/>
              </a:ext>
            </a:extLst>
          </p:cNvPr>
          <p:cNvSpPr txBox="1"/>
          <p:nvPr/>
        </p:nvSpPr>
        <p:spPr>
          <a:xfrm>
            <a:off x="2321344" y="4755812"/>
            <a:ext cx="7549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Andrea Spinelli, Gabriele Bova, Paolo Manuele Gulotta, Vincenzo Zizzo</a:t>
            </a: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EFAFED79-71D9-E555-AF16-E49B6A66CF75}"/>
              </a:ext>
            </a:extLst>
          </p:cNvPr>
          <p:cNvSpPr txBox="1"/>
          <p:nvPr/>
        </p:nvSpPr>
        <p:spPr>
          <a:xfrm>
            <a:off x="8310452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F4242A28-3826-4EFA-A3DC-8DA7B912E9C4}"/>
              </a:ext>
            </a:extLst>
          </p:cNvPr>
          <p:cNvSpPr txBox="1"/>
          <p:nvPr/>
        </p:nvSpPr>
        <p:spPr>
          <a:xfrm>
            <a:off x="281549" y="6482080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C72F0488-6728-DF39-F3A6-FF7B3E576A52}"/>
              </a:ext>
            </a:extLst>
          </p:cNvPr>
          <p:cNvSpPr txBox="1"/>
          <p:nvPr/>
        </p:nvSpPr>
        <p:spPr>
          <a:xfrm>
            <a:off x="281549" y="-6587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0070C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56889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TM04033927[[fn=Evento]]</Template>
  <TotalTime>4117</TotalTime>
  <Words>1786</Words>
  <Application>Microsoft Office PowerPoint</Application>
  <PresentationFormat>Widescreen</PresentationFormat>
  <Paragraphs>162</Paragraphs>
  <Slides>19</Slides>
  <Notes>0</Notes>
  <HiddenSlides>0</HiddenSlides>
  <MMClips>3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5" baseType="lpstr">
      <vt:lpstr>Aptos</vt:lpstr>
      <vt:lpstr>Arial</vt:lpstr>
      <vt:lpstr>Cambria</vt:lpstr>
      <vt:lpstr>Courier New</vt:lpstr>
      <vt:lpstr>Grandview Display</vt:lpstr>
      <vt:lpstr>DashVTI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Argonaut Astra</dc:creator>
  <cp:lastModifiedBy>ANDREA SPINELLI</cp:lastModifiedBy>
  <cp:revision>48</cp:revision>
  <dcterms:created xsi:type="dcterms:W3CDTF">2025-04-02T14:45:54Z</dcterms:created>
  <dcterms:modified xsi:type="dcterms:W3CDTF">2026-01-30T15:19:15Z</dcterms:modified>
</cp:coreProperties>
</file>